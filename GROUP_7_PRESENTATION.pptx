
<file path=[Content_Types].xml><?xml version="1.0" encoding="utf-8"?>
<Types xmlns="http://schemas.openxmlformats.org/package/2006/content-types">
  <Default Extension="wmf" ContentType="image/x-wmf"/>
  <Default Extension="png" ContentType="image/png"/>
  <Default Extension="jpeg" ContentType="image/jpeg"/>
  <Default Extension="xml" ContentType="application/xml"/>
  <Default Extension="rels" ContentType="application/vnd.openxmlformats-package.relationships+xml"/>
  <Default Extension="bin" ContentType="application/vnd.openxmlformats-officedocument.oleObject"/>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s/slide1.xml" ContentType="application/vnd.openxmlformats-officedocument.presentationml.slide+xml"/>
  <Override PartName="/ppt/slideLayouts/slideLayout8.xml" ContentType="application/vnd.openxmlformats-officedocument.presentationml.slideLayout+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s/slide5.xml" ContentType="application/vnd.openxmlformats-officedocument.presentationml.slide+xml"/>
  <Override PartName="/ppt/slideLayouts/slideLayout2.xml" ContentType="application/vnd.openxmlformats-officedocument.presentationml.slideLayout+xml"/>
  <Override PartName="/ppt/slides/slide3.xml" ContentType="application/vnd.openxmlformats-officedocument.presentationml.slide+xml"/>
  <Override PartName="/ppt/notesMasters/notesMaster1.xml" ContentType="application/vnd.openxmlformats-officedocument.presentationml.notesMaster+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slideLayouts/slideLayout11.xml" ContentType="application/vnd.openxmlformats-officedocument.presentationml.slideLayout+xml"/>
  <Override PartName="/ppt/tableStyles.xml" ContentType="application/vnd.openxmlformats-officedocument.presentationml.tableStyles+xml"/>
  <Override PartName="/ppt/theme/theme1.xml" ContentType="application/vnd.openxmlformats-officedocument.theme+xml"/>
  <Override PartName="/ppt/slideLayouts/slideLayout1.xml" ContentType="application/vnd.openxmlformats-officedocument.presentationml.slideLayout+xml"/>
  <Override PartName="/ppt/slides/slide2.xml" ContentType="application/vnd.openxmlformats-officedocument.presentationml.slide+xml"/>
  <Override PartName="/ppt/viewProps.xml" ContentType="application/vnd.openxmlformats-officedocument.presentationml.viewProps+xml"/>
  <Override PartName="/ppt/notesSlides/notesSlide3.xml" ContentType="application/vnd.openxmlformats-officedocument.presentationml.notesSlide+xml"/>
  <Override PartName="/ppt/presProps.xml" ContentType="application/vnd.openxmlformats-officedocument.presentationml.presProps+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presentation.xml" ContentType="application/vnd.openxmlformats-officedocument.presentationml.presentation.main+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9"/>
  </p:notesMasterIdLst>
  <p:sldIdLst>
    <p:sldId id="256" r:id="rId4"/>
    <p:sldId id="257" r:id="rId5"/>
    <p:sldId id="258" r:id="rId6"/>
    <p:sldId id="259" r:id="rId7"/>
    <p:sldId id="260" r:id="rId8"/>
  </p:sldIdLst>
  <p:sldSz cx="12192000" cy="6858000"/>
  <p:notesSz cx="6858000" cy="9144000"/>
  <p:defaultText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a:xfrm>
            <a:off x="685800" y="1143000"/>
            <a:ext cx="5486400" cy="3086100"/>
          </a:xfrm>
        </p:spPr>
      </p:sp>
      <p:sp>
        <p:nvSpPr>
          <p:cNvPr id="3" name="Notes Placeholder 2"/>
          <p:cNvSpPr>
            <a:spLocks noGrp="1"/>
          </p:cNvSpPr>
          <p:nvPr>
            <p:ph type="body" idx="1"/>
          </p:nvPr>
        </p:nvSpPr>
        <p:spPr bwMode="auto"/>
        <p:txBody>
          <a:bodyPr/>
          <a:lstStyle/>
          <a:p>
            <a:pPr>
              <a:defRPr/>
            </a:pPr>
            <a:endParaRPr lang="en-US">
              <a:latin typeface="Arial"/>
              <a:cs typeface="Arial"/>
            </a:endParaRPr>
          </a:p>
        </p:txBody>
      </p:sp>
      <p:sp>
        <p:nvSpPr>
          <p:cNvPr id="4"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E3EE08E-AE7A-B69A-74A5-3CC016B3C07D}" type="slidenum">
              <a:rPr/>
              <a:t/>
            </a:fld>
            <a:endParaRPr/>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B680A6C-790F-44A6-F37F-7BCE2FACBCF7}" type="slidenum">
              <a:rPr/>
              <a:t/>
            </a:fld>
            <a:endParaRPr/>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F86A947-B234-D7EA-FE13-D616C0C66F64}" type="slidenum">
              <a:rPr/>
              <a:t/>
            </a:fld>
            <a:endParaRPr/>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DE13E91-D5C9-D5CC-B80F-427029B45C6C}" type="slidenum">
              <a:rPr/>
              <a:t/>
            </a:fld>
            <a:endParaRPr/>
          </a:p>
        </p:txBody>
      </p:sp>
    </p:spTree>
  </p:cSld>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 userDrawn="1">
  <p:cSld name="Title Slide">
    <p:spTree>
      <p:nvGrpSpPr>
        <p:cNvPr id="1" name=""/>
        <p:cNvGrpSpPr/>
        <p:nvPr/>
      </p:nvGrpSpPr>
      <p:grpSpPr bwMode="auto">
        <a:xfrm>
          <a:off x="0" y="0"/>
          <a:ext cx="0" cy="0"/>
          <a:chOff x="0" y="0"/>
          <a:chExt cx="0" cy="0"/>
        </a:xfrm>
      </p:grpSpPr>
      <p:sp>
        <p:nvSpPr>
          <p:cNvPr id="2"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3"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 userDrawn="1">
  <p:cSld name="Title and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secHead" userDrawn="1">
  <p:cSld name="Section Header">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3"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Obj" userDrawn="1">
  <p:cSld name="Two Conten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woTxTwoObj" userDrawn="1">
  <p:cSld name="Comparis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5"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8" name="Footer Placeholder 7"/>
          <p:cNvSpPr>
            <a:spLocks noGrp="1"/>
          </p:cNvSpPr>
          <p:nvPr>
            <p:ph type="ftr" sz="quarter" idx="11"/>
          </p:nvPr>
        </p:nvSpPr>
        <p:spPr bwMode="auto"/>
        <p:txBody>
          <a:bodyPr/>
          <a:lstStyle/>
          <a:p>
            <a:pPr>
              <a:defRPr/>
            </a:pPr>
            <a:endParaRPr lang="en-US"/>
          </a:p>
        </p:txBody>
      </p:sp>
      <p:sp>
        <p:nvSpPr>
          <p:cNvPr id="9"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titleOnly" userDrawn="1">
  <p:cSld name="Title Only">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4" name="Footer Placeholder 3"/>
          <p:cNvSpPr>
            <a:spLocks noGrp="1"/>
          </p:cNvSpPr>
          <p:nvPr>
            <p:ph type="ftr" sz="quarter" idx="11"/>
          </p:nvPr>
        </p:nvSpPr>
        <p:spPr bwMode="auto"/>
        <p:txBody>
          <a:bodyPr/>
          <a:lstStyle/>
          <a:p>
            <a:pPr>
              <a:defRPr/>
            </a:pPr>
            <a:endParaRPr lang="en-US"/>
          </a:p>
        </p:txBody>
      </p:sp>
      <p:sp>
        <p:nvSpPr>
          <p:cNvPr id="5"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blank" userDrawn="1">
  <p:cSld name="Blank">
    <p:spTree>
      <p:nvGrpSpPr>
        <p:cNvPr id="1" name=""/>
        <p:cNvGrpSpPr/>
        <p:nvPr/>
      </p:nvGrpSpPr>
      <p:grpSpPr bwMode="auto">
        <a:xfrm>
          <a:off x="0" y="0"/>
          <a:ext cx="0" cy="0"/>
          <a:chOff x="0" y="0"/>
          <a:chExt cx="0" cy="0"/>
        </a:xfrm>
      </p:grpSpPr>
      <p:sp>
        <p:nvSpPr>
          <p:cNvPr id="2"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 name="Footer Placeholder 2"/>
          <p:cNvSpPr>
            <a:spLocks noGrp="1"/>
          </p:cNvSpPr>
          <p:nvPr>
            <p:ph type="ftr" sz="quarter" idx="11"/>
          </p:nvPr>
        </p:nvSpPr>
        <p:spPr bwMode="auto"/>
        <p:txBody>
          <a:bodyPr/>
          <a:lstStyle/>
          <a:p>
            <a:pPr>
              <a:defRPr/>
            </a:pPr>
            <a:endParaRPr lang="en-US"/>
          </a:p>
        </p:txBody>
      </p:sp>
      <p:sp>
        <p:nvSpPr>
          <p:cNvPr id="4"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objTx" userDrawn="1">
  <p:cSld name="Content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picTx" userDrawn="1">
  <p:cSld name="Picture with Caption">
    <p:spTree>
      <p:nvGrpSpPr>
        <p:cNvPr id="1" name=""/>
        <p:cNvGrpSpPr/>
        <p:nvPr/>
      </p:nvGrpSpPr>
      <p:grpSpPr bwMode="auto">
        <a:xfrm>
          <a:off x="0" y="0"/>
          <a:ext cx="0" cy="0"/>
          <a:chOff x="0" y="0"/>
          <a:chExt cx="0" cy="0"/>
        </a:xfrm>
      </p:grpSpPr>
      <p:sp>
        <p:nvSpPr>
          <p:cNvPr id="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3"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5"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6" name="Footer Placeholder 5"/>
          <p:cNvSpPr>
            <a:spLocks noGrp="1"/>
          </p:cNvSpPr>
          <p:nvPr>
            <p:ph type="ftr" sz="quarter" idx="11"/>
          </p:nvPr>
        </p:nvSpPr>
        <p:spPr bwMode="auto"/>
        <p:txBody>
          <a:bodyPr/>
          <a:lstStyle/>
          <a:p>
            <a:pPr>
              <a:defRPr/>
            </a:pPr>
            <a:endParaRPr lang="en-US"/>
          </a:p>
        </p:txBody>
      </p:sp>
      <p:sp>
        <p:nvSpPr>
          <p:cNvPr id="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x" userDrawn="1">
  <p:cSld name="Title and Vertical Text">
    <p:spTree>
      <p:nvGrpSpPr>
        <p:cNvPr id="1" name=""/>
        <p:cNvGrpSpPr/>
        <p:nvPr/>
      </p:nvGrpSpPr>
      <p:grpSpPr bwMode="auto">
        <a:xfrm>
          <a:off x="0" y="0"/>
          <a:ext cx="0" cy="0"/>
          <a:chOff x="0" y="0"/>
          <a:chExt cx="0" cy="0"/>
        </a:xfrm>
      </p:grpSpPr>
      <p:sp>
        <p:nvSpPr>
          <p:cNvPr id="2" name="Title 1"/>
          <p:cNvSpPr>
            <a:spLocks noGrp="1"/>
          </p:cNvSpPr>
          <p:nvPr>
            <p:ph type="title"/>
          </p:nvPr>
        </p:nvSpPr>
        <p:spPr bwMode="auto"/>
        <p:txBody>
          <a:bodyPr/>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type="vertTitleAndTx" userDrawn="1">
  <p:cSld name="Vertical Title and Text">
    <p:spTree>
      <p:nvGrpSpPr>
        <p:cNvPr id="1" name=""/>
        <p:cNvGrpSpPr/>
        <p:nvPr/>
      </p:nvGrpSpPr>
      <p:grpSpPr bwMode="auto">
        <a:xfrm>
          <a:off x="0" y="0"/>
          <a:ext cx="0" cy="0"/>
          <a:chOff x="0" y="0"/>
          <a:chExt cx="0" cy="0"/>
        </a:xfrm>
      </p:grpSpPr>
      <p:sp>
        <p:nvSpPr>
          <p:cNvPr id="2"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3"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 name="Footer Placeholder 4"/>
          <p:cNvSpPr>
            <a:spLocks noGrp="1"/>
          </p:cNvSpPr>
          <p:nvPr>
            <p:ph type="ftr" sz="quarter" idx="11"/>
          </p:nvPr>
        </p:nvSpPr>
        <p:spPr bwMode="auto"/>
        <p:txBody>
          <a:bodyPr/>
          <a:lstStyle/>
          <a:p>
            <a:pPr>
              <a:defRPr/>
            </a:pPr>
            <a:endParaRPr lang="en-US"/>
          </a:p>
        </p:txBody>
      </p:sp>
      <p:sp>
        <p:nvSpPr>
          <p:cNvPr id="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5"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ts val="0"/>
        </a:spcBef>
        <a:buNone/>
        <a:defRPr sz="4400">
          <a:solidFill>
            <a:schemeClr val="tx1"/>
          </a:solidFill>
          <a:latin typeface="+mj-lt"/>
          <a:ea typeface="+mj-ea"/>
          <a:cs typeface="+mj-cs"/>
        </a:defRPr>
      </a:lvl1pPr>
    </p:titleStyle>
    <p:bodyStyle>
      <a:lvl1pPr marL="228600" indent="-228600" algn="l" defTabSz="91440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localhost:5000/api/movies" TargetMode="Externa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3" name="Subtitle 2"/>
          <p:cNvSpPr>
            <a:spLocks noGrp="1"/>
          </p:cNvSpPr>
          <p:nvPr>
            <p:ph type="subTitle" idx="1"/>
          </p:nvPr>
        </p:nvSpPr>
        <p:spPr bwMode="auto">
          <a:xfrm flipH="0" flipV="0">
            <a:off x="509625" y="301624"/>
            <a:ext cx="10158374" cy="6207124"/>
          </a:xfrm>
        </p:spPr>
        <p:txBody>
          <a:bodyPr vertOverflow="overflow" horzOverflow="overflow" vert="horz" wrap="square" lIns="91440" tIns="45720" rIns="91440" bIns="45720" numCol="1" spcCol="0" rtlCol="0" fromWordArt="0" anchor="t" anchorCtr="0" forceAA="0" upright="0" compatLnSpc="0">
            <a:normAutofit fontScale="75000" lnSpcReduction="5000"/>
          </a:bodyPr>
          <a:lstStyle/>
          <a:p>
            <a:pPr algn="just">
              <a:lnSpc>
                <a:spcPct val="100000"/>
              </a:lnSpc>
              <a:defRPr/>
            </a:pPr>
            <a:r>
              <a:rPr sz="2400" b="1" i="0" u="none">
                <a:solidFill>
                  <a:srgbClr val="000000"/>
                </a:solidFill>
                <a:latin typeface="times new roman"/>
                <a:ea typeface="times new roman"/>
                <a:cs typeface="times new roman"/>
              </a:rPr>
              <a:t>T</a:t>
            </a:r>
            <a:r>
              <a:rPr sz="2400" b="1" i="0" u="none">
                <a:solidFill>
                  <a:srgbClr val="000000"/>
                </a:solidFill>
                <a:latin typeface="times new roman"/>
                <a:ea typeface="times new roman"/>
                <a:cs typeface="times new roman"/>
              </a:rPr>
              <a:t>itle:</a:t>
            </a:r>
            <a:r>
              <a:rPr sz="2400" b="0" i="0" u="none">
                <a:solidFill>
                  <a:srgbClr val="000000"/>
                </a:solidFill>
                <a:latin typeface="times new roman"/>
                <a:ea typeface="times new roman"/>
                <a:cs typeface="times new roman"/>
              </a:rPr>
              <a:t> </a:t>
            </a:r>
            <a:r>
              <a:rPr sz="2400" b="0" i="0" u="none">
                <a:solidFill>
                  <a:srgbClr val="000000"/>
                </a:solidFill>
                <a:latin typeface="times new roman"/>
                <a:ea typeface="times new roman"/>
                <a:cs typeface="times new roman"/>
              </a:rPr>
              <a:t>Movie Recommendation API – Group 7</a:t>
            </a:r>
            <a:endParaRPr sz="2400">
              <a:latin typeface="times new roman"/>
              <a:cs typeface="times new roman"/>
            </a:endParaRPr>
          </a:p>
          <a:p>
            <a:pPr algn="just">
              <a:lnSpc>
                <a:spcPct val="100000"/>
              </a:lnSpc>
              <a:defRPr/>
            </a:pPr>
            <a:endParaRPr sz="2400">
              <a:latin typeface="times new roman"/>
              <a:cs typeface="times new roman"/>
            </a:endParaRPr>
          </a:p>
          <a:p>
            <a:pPr algn="just">
              <a:lnSpc>
                <a:spcPct val="100000"/>
              </a:lnSpc>
              <a:defRPr/>
            </a:pPr>
            <a:r>
              <a:rPr sz="2400" b="1" i="0" u="none">
                <a:solidFill>
                  <a:srgbClr val="000000"/>
                </a:solidFill>
                <a:latin typeface="times new roman"/>
                <a:ea typeface="times new roman"/>
                <a:cs typeface="times new roman"/>
              </a:rPr>
              <a:t>Goal:</a:t>
            </a:r>
            <a:r>
              <a:rPr sz="2400" b="0" i="0" u="none">
                <a:solidFill>
                  <a:srgbClr val="000000"/>
                </a:solidFill>
                <a:latin typeface="times new roman"/>
                <a:ea typeface="times new roman"/>
                <a:cs typeface="times new roman"/>
              </a:rPr>
              <a:t> Build a RESTful API to manage a personal movie collection.</a:t>
            </a:r>
            <a:endParaRPr sz="2400">
              <a:latin typeface="times new roman"/>
              <a:cs typeface="times new roman"/>
            </a:endParaRPr>
          </a:p>
          <a:p>
            <a:pPr algn="just">
              <a:lnSpc>
                <a:spcPct val="100000"/>
              </a:lnSpc>
              <a:defRPr/>
            </a:pPr>
            <a:r>
              <a:rPr sz="2400" b="1" i="0" u="none">
                <a:solidFill>
                  <a:srgbClr val="000000"/>
                </a:solidFill>
                <a:latin typeface="times new roman"/>
                <a:ea typeface="times new roman"/>
                <a:cs typeface="times new roman"/>
              </a:rPr>
              <a:t>Core features:</a:t>
            </a:r>
            <a:endParaRPr sz="2400">
              <a:latin typeface="times new roman"/>
              <a:cs typeface="times new roman"/>
            </a:endParaRPr>
          </a:p>
          <a:p>
            <a:pPr algn="just">
              <a:lnSpc>
                <a:spcPct val="100000"/>
              </a:lnSpc>
              <a:defRPr/>
            </a:pPr>
            <a:r>
              <a:rPr sz="2400">
                <a:latin typeface="times new roman"/>
                <a:ea typeface="times new roman"/>
                <a:cs typeface="times new roman"/>
              </a:rPr>
              <a:t>	</a:t>
            </a:r>
            <a:r>
              <a:rPr sz="2400" b="0" i="0" u="none">
                <a:solidFill>
                  <a:srgbClr val="000000"/>
                </a:solidFill>
                <a:latin typeface="times new roman"/>
                <a:ea typeface="times new roman"/>
                <a:cs typeface="times new roman"/>
              </a:rPr>
              <a:t>~Add new movies (title, genre, release year, rating)</a:t>
            </a:r>
            <a:endParaRPr sz="2400">
              <a:latin typeface="times new roman"/>
              <a:cs typeface="times new roman"/>
            </a:endParaRPr>
          </a:p>
          <a:p>
            <a:pPr algn="just">
              <a:lnSpc>
                <a:spcPct val="100000"/>
              </a:lnSpc>
              <a:defRPr/>
            </a:pPr>
            <a:r>
              <a:rPr sz="2400">
                <a:latin typeface="times new roman"/>
                <a:ea typeface="times new roman"/>
                <a:cs typeface="times new roman"/>
              </a:rPr>
              <a:t>	</a:t>
            </a:r>
            <a:r>
              <a:rPr sz="2400" b="0" i="0" u="none">
                <a:solidFill>
                  <a:srgbClr val="000000"/>
                </a:solidFill>
                <a:latin typeface="times new roman"/>
                <a:ea typeface="times new roman"/>
                <a:cs typeface="times new roman"/>
              </a:rPr>
              <a:t>~View all movies or a single movie by ID</a:t>
            </a:r>
            <a:endParaRPr sz="2400">
              <a:latin typeface="times new roman"/>
              <a:cs typeface="times new roman"/>
            </a:endParaRPr>
          </a:p>
          <a:p>
            <a:pPr algn="just">
              <a:lnSpc>
                <a:spcPct val="100000"/>
              </a:lnSpc>
              <a:defRPr/>
            </a:pPr>
            <a:r>
              <a:rPr sz="2400">
                <a:latin typeface="times new roman"/>
                <a:ea typeface="times new roman"/>
                <a:cs typeface="times new roman"/>
              </a:rPr>
              <a:t>	</a:t>
            </a:r>
            <a:r>
              <a:rPr sz="2400" b="0" i="0" u="none">
                <a:solidFill>
                  <a:srgbClr val="000000"/>
                </a:solidFill>
                <a:latin typeface="times new roman"/>
                <a:ea typeface="times new roman"/>
                <a:cs typeface="times new roman"/>
              </a:rPr>
              <a:t>~Update movie details</a:t>
            </a:r>
            <a:endParaRPr sz="2400">
              <a:latin typeface="times new roman"/>
              <a:cs typeface="times new roman"/>
            </a:endParaRPr>
          </a:p>
          <a:p>
            <a:pPr algn="just">
              <a:lnSpc>
                <a:spcPct val="100000"/>
              </a:lnSpc>
              <a:defRPr/>
            </a:pPr>
            <a:r>
              <a:rPr sz="2400">
                <a:latin typeface="times new roman"/>
                <a:ea typeface="times new roman"/>
                <a:cs typeface="times new roman"/>
              </a:rPr>
              <a:t>	</a:t>
            </a:r>
            <a:r>
              <a:rPr sz="2400" b="0" i="0" u="none">
                <a:solidFill>
                  <a:srgbClr val="000000"/>
                </a:solidFill>
                <a:latin typeface="times new roman"/>
                <a:ea typeface="times new roman"/>
                <a:cs typeface="times new roman"/>
              </a:rPr>
              <a:t>~Delete movies</a:t>
            </a:r>
            <a:endParaRPr sz="2400">
              <a:latin typeface="times new roman"/>
              <a:cs typeface="times new roman"/>
            </a:endParaRPr>
          </a:p>
          <a:p>
            <a:pPr algn="just">
              <a:lnSpc>
                <a:spcPct val="100000"/>
              </a:lnSpc>
              <a:defRPr/>
            </a:pPr>
            <a:r>
              <a:rPr sz="2400" b="0" i="0" u="none">
                <a:solidFill>
                  <a:srgbClr val="000000"/>
                </a:solidFill>
                <a:latin typeface="times new roman"/>
                <a:ea typeface="times new roman"/>
                <a:cs typeface="times new roman"/>
              </a:rPr>
              <a:t>	~Filter by genre</a:t>
            </a:r>
            <a:endParaRPr sz="2400">
              <a:latin typeface="times new roman"/>
              <a:cs typeface="times new roman"/>
            </a:endParaRPr>
          </a:p>
          <a:p>
            <a:pPr algn="just">
              <a:lnSpc>
                <a:spcPct val="100000"/>
              </a:lnSpc>
              <a:defRPr/>
            </a:pPr>
            <a:r>
              <a:rPr lang="en-US" sz="2400">
                <a:latin typeface="times new roman"/>
                <a:ea typeface="times new roman"/>
                <a:cs typeface="times new roman"/>
              </a:rPr>
              <a:t>Group members:</a:t>
            </a:r>
            <a:endParaRPr sz="2400">
              <a:latin typeface="times new roman"/>
              <a:cs typeface="times new roman"/>
            </a:endParaRPr>
          </a:p>
          <a:p>
            <a:pPr algn="just">
              <a:lnSpc>
                <a:spcPct val="100000"/>
              </a:lnSpc>
              <a:defRPr/>
            </a:pPr>
            <a:r>
              <a:rPr lang="en-US" sz="2400">
                <a:latin typeface="times new roman"/>
                <a:ea typeface="times new roman"/>
                <a:cs typeface="times new roman"/>
              </a:rPr>
              <a:t>	~Samuel</a:t>
            </a:r>
            <a:endParaRPr sz="2400">
              <a:latin typeface="times new roman"/>
              <a:cs typeface="times new roman"/>
            </a:endParaRPr>
          </a:p>
          <a:p>
            <a:pPr algn="just">
              <a:lnSpc>
                <a:spcPct val="100000"/>
              </a:lnSpc>
              <a:defRPr/>
            </a:pPr>
            <a:r>
              <a:rPr lang="en-US" sz="2400">
                <a:latin typeface="times new roman"/>
                <a:ea typeface="times new roman"/>
                <a:cs typeface="times new roman"/>
              </a:rPr>
              <a:t>	~Maryann</a:t>
            </a:r>
            <a:endParaRPr sz="2400">
              <a:latin typeface="times new roman"/>
              <a:cs typeface="times new roman"/>
            </a:endParaRPr>
          </a:p>
          <a:p>
            <a:pPr algn="just">
              <a:lnSpc>
                <a:spcPct val="100000"/>
              </a:lnSpc>
              <a:defRPr/>
            </a:pPr>
            <a:r>
              <a:rPr lang="en-US" sz="2400">
                <a:latin typeface="times new roman"/>
                <a:ea typeface="times new roman"/>
                <a:cs typeface="times new roman"/>
              </a:rPr>
              <a:t>	~Precious Uloh</a:t>
            </a:r>
            <a:endParaRPr sz="2400">
              <a:latin typeface="times new roman"/>
              <a:cs typeface="times new roman"/>
            </a:endParaRPr>
          </a:p>
          <a:p>
            <a:pPr algn="just">
              <a:lnSpc>
                <a:spcPct val="100000"/>
              </a:lnSpc>
              <a:defRPr/>
            </a:pPr>
            <a:r>
              <a:rPr lang="en-US" sz="2400">
                <a:latin typeface="times new roman"/>
                <a:ea typeface="times new roman"/>
                <a:cs typeface="times new roman"/>
              </a:rPr>
              <a:t>	~Chijindu Nwokeohuru</a:t>
            </a:r>
            <a:endParaRPr sz="2400">
              <a:latin typeface="times new roman"/>
              <a:cs typeface="times new roman"/>
            </a:endParaRPr>
          </a:p>
          <a:p>
            <a:pPr algn="just">
              <a:lnSpc>
                <a:spcPct val="100000"/>
              </a:lnSpc>
              <a:defRPr/>
            </a:pPr>
            <a:r>
              <a:rPr lang="en-US" sz="2400">
                <a:latin typeface="times new roman"/>
                <a:ea typeface="times new roman"/>
                <a:cs typeface="times new roman"/>
              </a:rPr>
              <a:t>	~John</a:t>
            </a:r>
            <a:br>
              <a:rPr lang="en-US" sz="2400">
                <a:latin typeface="times new roman"/>
                <a:ea typeface="times new roman"/>
                <a:cs typeface="times new roman"/>
              </a:rPr>
            </a:br>
            <a:r>
              <a:rPr lang="en-US" sz="2400">
                <a:latin typeface="times new roman"/>
                <a:ea typeface="times new roman"/>
                <a:cs typeface="times new roman"/>
              </a:rPr>
              <a:t>	~Michael</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713104998" name="Content Placeholder 2"/>
          <p:cNvSpPr>
            <a:spLocks noGrp="1"/>
          </p:cNvSpPr>
          <p:nvPr>
            <p:ph idx="1"/>
          </p:nvPr>
        </p:nvSpPr>
        <p:spPr bwMode="auto">
          <a:xfrm flipH="0" flipV="0">
            <a:off x="838199" y="253999"/>
            <a:ext cx="10515600" cy="6159499"/>
          </a:xfrm>
        </p:spPr>
        <p:txBody>
          <a:bodyPr vertOverflow="overflow" horzOverflow="overflow" vert="horz" wrap="square" lIns="91440" tIns="45720" rIns="91440" bIns="45720" numCol="1" spcCol="0" rtlCol="0" fromWordArt="0" anchor="t" anchorCtr="0" forceAA="0" upright="0" compatLnSpc="0">
            <a:normAutofit fontScale="70000" lnSpcReduction="6000"/>
          </a:bodyPr>
          <a:lstStyle/>
          <a:p>
            <a:pPr marL="0" indent="0">
              <a:lnSpc>
                <a:spcPct val="100000"/>
              </a:lnSpc>
              <a:buFont typeface="Arial"/>
              <a:buNone/>
              <a:defRPr/>
            </a:pPr>
            <a:r>
              <a:rPr b="1">
                <a:latin typeface="times new roman"/>
                <a:ea typeface="times new roman"/>
                <a:cs typeface="times new roman"/>
              </a:rPr>
              <a:t>Folder structure and Tech Stack</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scr/</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Data/</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movies.js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Middleware/</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errorHandler.js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Logger.js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Routes/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movieRoutes.js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App.js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	Server.js</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.env.example</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.gitignore</a:t>
            </a:r>
            <a:endParaRPr>
              <a:latin typeface="times new roman"/>
              <a:cs typeface="times new roman"/>
            </a:endParaRPr>
          </a:p>
          <a:p>
            <a:pPr marL="0" indent="0">
              <a:lnSpc>
                <a:spcPct val="100000"/>
              </a:lnSpc>
              <a:buFont typeface="Arial"/>
              <a:buNone/>
              <a:defRPr/>
            </a:pPr>
            <a:r>
              <a:rPr>
                <a:latin typeface="times new roman"/>
                <a:ea typeface="times new roman"/>
                <a:cs typeface="times new roman"/>
              </a:rPr>
              <a:t>README.md</a:t>
            </a:r>
            <a:endParaRPr/>
          </a:p>
        </p:txBody>
      </p:sp>
      <p:graphicFrame>
        <p:nvGraphicFramePr>
          <p:cNvPr id="1269661892" name=""/>
          <p:cNvGraphicFramePr>
            <a:graphicFrameLocks xmlns:a="http://schemas.openxmlformats.org/drawingml/2006/main"/>
          </p:cNvGraphicFramePr>
          <p:nvPr/>
        </p:nvGraphicFramePr>
        <p:xfrm>
          <a:off x="5776545" y="1637190"/>
          <a:ext cx="5257799" cy="2765281"/>
        </p:xfrm>
        <a:graphic>
          <a:graphicData uri="http://schemas.openxmlformats.org/drawingml/2006/table">
            <a:tbl>
              <a:tblPr firstRow="1" firstCol="0" lastRow="0" lastCol="0" bandRow="1" bandCol="0">
                <a:tableStyleId>{5C22544A-7EE6-4342-B048-85BDC9FD1C3A}</a:tableStyleId>
              </a:tblPr>
              <a:tblGrid>
                <a:gridCol w="2622549"/>
                <a:gridCol w="2622549"/>
              </a:tblGrid>
              <a:tr h="299991">
                <a:tc>
                  <a:txBody>
                    <a:bodyPr/>
                    <a:p>
                      <a:pPr>
                        <a:defRPr/>
                      </a:pPr>
                      <a:r>
                        <a:rPr/>
                        <a:t>Tech</a:t>
                      </a:r>
                      <a:endParaRPr/>
                    </a:p>
                  </a:txBody>
                  <a:tcPr/>
                </a:tc>
                <a:tc>
                  <a:txBody>
                    <a:bodyPr/>
                    <a:p>
                      <a:pPr>
                        <a:defRPr/>
                      </a:pPr>
                      <a:r>
                        <a:rPr/>
                        <a:t>Usage</a:t>
                      </a:r>
                      <a:endParaRPr/>
                    </a:p>
                  </a:txBody>
                  <a:tcPr/>
                </a:tc>
              </a:tr>
              <a:tr h="375141">
                <a:tc>
                  <a:txBody>
                    <a:bodyPr/>
                    <a:p>
                      <a:pPr>
                        <a:defRPr/>
                      </a:pPr>
                      <a:r>
                        <a:rPr/>
                        <a:t>Node.js </a:t>
                      </a:r>
                      <a:endParaRPr/>
                    </a:p>
                  </a:txBody>
                  <a:tcPr/>
                </a:tc>
                <a:tc>
                  <a:txBody>
                    <a:bodyPr/>
                    <a:p>
                      <a:pPr>
                        <a:defRPr/>
                      </a:pPr>
                      <a:r>
                        <a:rPr/>
                        <a:t>Runtime </a:t>
                      </a:r>
                      <a:endParaRPr/>
                    </a:p>
                  </a:txBody>
                  <a:tcPr/>
                </a:tc>
              </a:tr>
              <a:tr h="299991">
                <a:tc>
                  <a:txBody>
                    <a:bodyPr/>
                    <a:p>
                      <a:pPr>
                        <a:defRPr/>
                      </a:pPr>
                      <a:r>
                        <a:rPr/>
                        <a:t>Express.js</a:t>
                      </a:r>
                      <a:endParaRPr/>
                    </a:p>
                  </a:txBody>
                  <a:tcPr/>
                </a:tc>
                <a:tc>
                  <a:txBody>
                    <a:bodyPr/>
                    <a:p>
                      <a:pPr>
                        <a:defRPr/>
                      </a:pPr>
                      <a:r>
                        <a:rPr/>
                        <a:t>Runtime </a:t>
                      </a:r>
                      <a:endParaRPr/>
                    </a:p>
                  </a:txBody>
                  <a:tcPr/>
                </a:tc>
              </a:tr>
              <a:tr h="501275">
                <a:tc>
                  <a:txBody>
                    <a:bodyPr/>
                    <a:p>
                      <a:pPr>
                        <a:defRPr/>
                      </a:pPr>
                      <a:r>
                        <a:rPr/>
                        <a:t>Dot(.env) file</a:t>
                      </a:r>
                      <a:endParaRPr/>
                    </a:p>
                  </a:txBody>
                  <a:tcPr/>
                </a:tc>
                <a:tc>
                  <a:txBody>
                    <a:bodyPr/>
                    <a:p>
                      <a:pPr>
                        <a:defRPr/>
                      </a:pPr>
                      <a:r>
                        <a:rPr/>
                        <a:t>Storing environment variables</a:t>
                      </a:r>
                      <a:endParaRPr/>
                    </a:p>
                  </a:txBody>
                  <a:tcPr/>
                </a:tc>
              </a:tr>
              <a:tr h="501275">
                <a:tc>
                  <a:txBody>
                    <a:bodyPr/>
                    <a:p>
                      <a:pPr>
                        <a:defRPr/>
                      </a:pPr>
                      <a:r>
                        <a:rPr/>
                        <a:t>Github </a:t>
                      </a:r>
                      <a:endParaRPr/>
                    </a:p>
                  </a:txBody>
                  <a:tcPr/>
                </a:tc>
                <a:tc>
                  <a:txBody>
                    <a:bodyPr/>
                    <a:p>
                      <a:pPr>
                        <a:defRPr/>
                      </a:pPr>
                      <a:r>
                        <a:rPr/>
                        <a:t>Version control and collabolation</a:t>
                      </a:r>
                      <a:endParaRPr/>
                    </a:p>
                  </a:txBody>
                  <a:tcPr/>
                </a:tc>
              </a:tr>
              <a:tr h="299991">
                <a:tc>
                  <a:txBody>
                    <a:bodyPr/>
                    <a:p>
                      <a:pPr>
                        <a:defRPr/>
                      </a:pPr>
                      <a:r>
                        <a:rPr/>
                        <a:t>Postman </a:t>
                      </a:r>
                      <a:endParaRPr/>
                    </a:p>
                  </a:txBody>
                  <a:tcPr/>
                </a:tc>
                <a:tc>
                  <a:txBody>
                    <a:bodyPr/>
                    <a:p>
                      <a:pPr>
                        <a:defRPr/>
                      </a:pPr>
                      <a:r>
                        <a:rPr/>
                        <a:t>Testing </a:t>
                      </a:r>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296902159" name="Content Placeholder 2"/>
          <p:cNvSpPr>
            <a:spLocks noGrp="1"/>
          </p:cNvSpPr>
          <p:nvPr>
            <p:ph idx="1"/>
          </p:nvPr>
        </p:nvSpPr>
        <p:spPr bwMode="auto">
          <a:xfrm flipH="0" flipV="0">
            <a:off x="838199" y="512884"/>
            <a:ext cx="10515600" cy="5664078"/>
          </a:xfrm>
        </p:spPr>
        <p:txBody>
          <a:bodyPr vertOverflow="overflow" horzOverflow="overflow" vert="horz" wrap="square" lIns="91440" tIns="45720" rIns="91440" bIns="45720" numCol="1" spcCol="0" rtlCol="0" fromWordArt="0" anchor="t" anchorCtr="0" forceAA="0" upright="0" compatLnSpc="0">
            <a:normAutofit/>
          </a:bodyPr>
          <a:lstStyle/>
          <a:p>
            <a:pPr marL="0" indent="0">
              <a:lnSpc>
                <a:spcPct val="150000"/>
              </a:lnSpc>
              <a:buFont typeface="Arial"/>
              <a:buNone/>
              <a:defRPr/>
            </a:pPr>
            <a:r>
              <a:rPr sz="1600" b="0" i="0" u="none">
                <a:solidFill>
                  <a:srgbClr val="000000"/>
                </a:solidFill>
                <a:latin typeface="times new roman"/>
                <a:ea typeface="times new roman"/>
                <a:cs typeface="times new roman"/>
              </a:rPr>
              <a:t>REST Endpoints – Movie CRUD Operations</a:t>
            </a:r>
            <a:endParaRPr sz="1600">
              <a:latin typeface="times new roman"/>
              <a:cs typeface="times new roman"/>
            </a:endParaRPr>
          </a:p>
          <a:p>
            <a:pPr marL="0" indent="0">
              <a:lnSpc>
                <a:spcPct val="150000"/>
              </a:lnSpc>
              <a:buFont typeface="Arial"/>
              <a:buNone/>
              <a:defRPr/>
            </a:pPr>
            <a:r>
              <a:rPr sz="1600" b="1" i="0" u="none">
                <a:solidFill>
                  <a:srgbClr val="000000"/>
                </a:solidFill>
                <a:latin typeface="times new roman"/>
                <a:ea typeface="times new roman"/>
                <a:cs typeface="times new roman"/>
              </a:rPr>
              <a:t>Base URL:</a:t>
            </a:r>
            <a:r>
              <a:rPr sz="1600" b="0" i="0" u="none">
                <a:solidFill>
                  <a:srgbClr val="000000"/>
                </a:solidFill>
                <a:latin typeface="times new roman"/>
                <a:ea typeface="times new roman"/>
                <a:cs typeface="times new roman"/>
              </a:rPr>
              <a:t> </a:t>
            </a:r>
            <a:r>
              <a:rPr sz="1600" b="0" i="0" u="sng">
                <a:solidFill>
                  <a:srgbClr val="000000"/>
                </a:solidFill>
                <a:latin typeface="times new roman"/>
                <a:ea typeface="times new roman"/>
                <a:cs typeface="times new roman"/>
                <a:hlinkClick r:id="rId3" tooltip="http://localhost:5000/api/movies"/>
              </a:rPr>
              <a:t>http://localhost:5000/api/movies</a:t>
            </a:r>
            <a:endParaRPr sz="1600"/>
          </a:p>
          <a:p>
            <a:pPr marL="0" indent="0">
              <a:lnSpc>
                <a:spcPct val="150000"/>
              </a:lnSpc>
              <a:buFont typeface="Arial"/>
              <a:buNone/>
              <a:defRPr/>
            </a:pPr>
            <a:endParaRPr sz="1600">
              <a:latin typeface="times new roman"/>
              <a:cs typeface="times new roman"/>
            </a:endParaRPr>
          </a:p>
          <a:p>
            <a:pPr marL="0" indent="0">
              <a:lnSpc>
                <a:spcPct val="150000"/>
              </a:lnSpc>
              <a:buFont typeface="Arial"/>
              <a:buNone/>
              <a:defRPr/>
            </a:pPr>
            <a:endParaRPr sz="1600">
              <a:latin typeface="times new roman"/>
              <a:cs typeface="times new roman"/>
            </a:endParaRPr>
          </a:p>
          <a:p>
            <a:pPr marL="0" indent="0">
              <a:lnSpc>
                <a:spcPct val="150000"/>
              </a:lnSpc>
              <a:buFont typeface="Arial"/>
              <a:buNone/>
              <a:defRPr/>
            </a:pPr>
            <a:endParaRPr sz="1600">
              <a:latin typeface="times new roman"/>
              <a:cs typeface="times new roman"/>
            </a:endParaRPr>
          </a:p>
          <a:p>
            <a:pPr marL="0" indent="0">
              <a:lnSpc>
                <a:spcPct val="150000"/>
              </a:lnSpc>
              <a:buFont typeface="Arial"/>
              <a:buNone/>
              <a:defRPr/>
            </a:pPr>
            <a:endParaRPr sz="1600">
              <a:latin typeface="times new roman"/>
              <a:cs typeface="times new roman"/>
            </a:endParaRPr>
          </a:p>
          <a:p>
            <a:pPr marL="0" indent="0">
              <a:lnSpc>
                <a:spcPct val="150000"/>
              </a:lnSpc>
              <a:buFont typeface="Arial"/>
              <a:buNone/>
              <a:defRPr/>
            </a:pPr>
            <a:endParaRPr sz="1600">
              <a:latin typeface="times new roman"/>
              <a:cs typeface="times new roman"/>
            </a:endParaRPr>
          </a:p>
          <a:p>
            <a:pPr marL="0" indent="0">
              <a:lnSpc>
                <a:spcPct val="150000"/>
              </a:lnSpc>
              <a:buFont typeface="Arial"/>
              <a:buNone/>
              <a:defRPr/>
            </a:pPr>
            <a:endParaRPr sz="1600">
              <a:latin typeface="times new roman"/>
              <a:cs typeface="times new roman"/>
            </a:endParaRPr>
          </a:p>
          <a:p>
            <a:pPr marL="0" indent="0">
              <a:lnSpc>
                <a:spcPct val="150000"/>
              </a:lnSpc>
              <a:buFont typeface="Arial"/>
              <a:buNone/>
              <a:defRPr/>
            </a:pPr>
            <a:r>
              <a:rPr sz="1600" b="1" i="0" u="none">
                <a:solidFill>
                  <a:srgbClr val="000000"/>
                </a:solidFill>
                <a:latin typeface="times new roman"/>
                <a:ea typeface="times new roman"/>
                <a:cs typeface="times new roman"/>
              </a:rPr>
              <a:t>Status codes used:</a:t>
            </a:r>
            <a:br>
              <a:rPr sz="1600" b="1" i="0" u="none">
                <a:solidFill>
                  <a:srgbClr val="000000"/>
                </a:solidFill>
                <a:latin typeface="times new roman"/>
                <a:ea typeface="times new roman"/>
                <a:cs typeface="times new roman"/>
              </a:rPr>
            </a:br>
            <a:r>
              <a:rPr sz="1600" b="0" i="0" u="none">
                <a:solidFill>
                  <a:srgbClr val="000000"/>
                </a:solidFill>
                <a:latin typeface="times new roman"/>
                <a:ea typeface="times new roman"/>
                <a:cs typeface="times new roman"/>
              </a:rPr>
              <a:t>200 OK</a:t>
            </a:r>
            <a:r>
              <a:rPr sz="1600" b="0" i="0" u="none">
                <a:solidFill>
                  <a:srgbClr val="000000"/>
                </a:solidFill>
                <a:latin typeface="times new roman"/>
                <a:ea typeface="times new roman"/>
                <a:cs typeface="times new roman"/>
              </a:rPr>
              <a:t>, </a:t>
            </a:r>
            <a:r>
              <a:rPr sz="1600" b="0" i="0" u="none">
                <a:solidFill>
                  <a:srgbClr val="000000"/>
                </a:solidFill>
                <a:latin typeface="times new roman"/>
                <a:ea typeface="times new roman"/>
                <a:cs typeface="times new roman"/>
              </a:rPr>
              <a:t>201 Created</a:t>
            </a:r>
            <a:r>
              <a:rPr sz="1600" b="0" i="0" u="none">
                <a:solidFill>
                  <a:srgbClr val="000000"/>
                </a:solidFill>
                <a:latin typeface="times new roman"/>
                <a:ea typeface="times new roman"/>
                <a:cs typeface="times new roman"/>
              </a:rPr>
              <a:t>, </a:t>
            </a:r>
            <a:r>
              <a:rPr sz="1600" b="0" i="0" u="none">
                <a:solidFill>
                  <a:srgbClr val="000000"/>
                </a:solidFill>
                <a:latin typeface="times new roman"/>
                <a:ea typeface="times new roman"/>
                <a:cs typeface="times new roman"/>
              </a:rPr>
              <a:t>400 Bad Request</a:t>
            </a:r>
            <a:r>
              <a:rPr sz="1600" b="0" i="0" u="none">
                <a:solidFill>
                  <a:srgbClr val="000000"/>
                </a:solidFill>
                <a:latin typeface="times new roman"/>
                <a:ea typeface="times new roman"/>
                <a:cs typeface="times new roman"/>
              </a:rPr>
              <a:t>, </a:t>
            </a:r>
            <a:r>
              <a:rPr sz="1600" b="0" i="0" u="none">
                <a:solidFill>
                  <a:srgbClr val="000000"/>
                </a:solidFill>
                <a:latin typeface="times new roman"/>
                <a:ea typeface="times new roman"/>
                <a:cs typeface="times new roman"/>
              </a:rPr>
              <a:t>404 Not Found</a:t>
            </a:r>
            <a:endParaRPr/>
          </a:p>
        </p:txBody>
      </p:sp>
      <p:graphicFrame>
        <p:nvGraphicFramePr>
          <p:cNvPr id="279887757" name=""/>
          <p:cNvGraphicFramePr>
            <a:graphicFrameLocks xmlns:a="http://schemas.openxmlformats.org/drawingml/2006/main"/>
          </p:cNvGraphicFramePr>
          <p:nvPr/>
        </p:nvGraphicFramePr>
        <p:xfrm>
          <a:off x="1127124" y="1752599"/>
          <a:ext cx="8140699" cy="3121659"/>
        </p:xfrm>
        <a:graphic>
          <a:graphicData uri="http://schemas.openxmlformats.org/drawingml/2006/table">
            <a:tbl>
              <a:tblPr firstRow="1" firstCol="0" lastRow="0" lastCol="0" bandRow="1" bandCol="0">
                <a:tableStyleId>{5C22544A-7EE6-4342-B048-85BDC9FD1C3A}</a:tableStyleId>
              </a:tblPr>
              <a:tblGrid>
                <a:gridCol w="2709333"/>
                <a:gridCol w="2709333"/>
                <a:gridCol w="2709333"/>
              </a:tblGrid>
              <a:tr h="282700">
                <a:tc>
                  <a:txBody>
                    <a:bodyPr/>
                    <a:p>
                      <a:pPr>
                        <a:defRPr/>
                      </a:pPr>
                      <a:r>
                        <a:rPr sz="1600">
                          <a:latin typeface="times new roman"/>
                          <a:ea typeface="times new roman"/>
                          <a:cs typeface="times new roman"/>
                        </a:rPr>
                        <a:t>Method </a:t>
                      </a:r>
                      <a:endParaRPr sz="1600">
                        <a:latin typeface="times new roman"/>
                        <a:cs typeface="times new roman"/>
                      </a:endParaRPr>
                    </a:p>
                  </a:txBody>
                  <a:tcPr/>
                </a:tc>
                <a:tc>
                  <a:txBody>
                    <a:bodyPr/>
                    <a:p>
                      <a:pPr>
                        <a:defRPr/>
                      </a:pPr>
                      <a:r>
                        <a:rPr sz="1600">
                          <a:latin typeface="times new roman"/>
                          <a:ea typeface="times new roman"/>
                          <a:cs typeface="times new roman"/>
                        </a:rPr>
                        <a:t>Path </a:t>
                      </a:r>
                      <a:endParaRPr sz="1600">
                        <a:latin typeface="times new roman"/>
                        <a:cs typeface="times new roman"/>
                      </a:endParaRPr>
                    </a:p>
                  </a:txBody>
                  <a:tcPr/>
                </a:tc>
                <a:tc>
                  <a:txBody>
                    <a:bodyPr/>
                    <a:p>
                      <a:pPr>
                        <a:defRPr/>
                      </a:pPr>
                      <a:r>
                        <a:rPr sz="1600">
                          <a:latin typeface="times new roman"/>
                          <a:ea typeface="times new roman"/>
                          <a:cs typeface="times new roman"/>
                        </a:rPr>
                        <a:t>Description </a:t>
                      </a:r>
                      <a:endParaRPr sz="1600">
                        <a:latin typeface="times new roman"/>
                        <a:cs typeface="times new roman"/>
                      </a:endParaRPr>
                    </a:p>
                  </a:txBody>
                  <a:tcPr/>
                </a:tc>
              </a:tr>
              <a:tr h="365760">
                <a:tc>
                  <a:txBody>
                    <a:bodyPr/>
                    <a:p>
                      <a:pPr>
                        <a:defRPr/>
                      </a:pPr>
                      <a:r>
                        <a:rPr sz="1600">
                          <a:latin typeface="times new roman"/>
                          <a:ea typeface="times new roman"/>
                          <a:cs typeface="times new roman"/>
                        </a:rPr>
                        <a:t>Get </a:t>
                      </a:r>
                      <a:endParaRPr sz="1600">
                        <a:latin typeface="times new roman"/>
                        <a:cs typeface="times new roman"/>
                      </a:endParaRPr>
                    </a:p>
                  </a:txBody>
                  <a:tcPr/>
                </a:tc>
                <a:tc>
                  <a:txBody>
                    <a:bodyPr/>
                    <a:p>
                      <a:pPr>
                        <a:defRPr/>
                      </a:pPr>
                      <a:r>
                        <a:rPr sz="1600">
                          <a:latin typeface="times new roman"/>
                          <a:ea typeface="times new roman"/>
                          <a:cs typeface="times new roman"/>
                        </a:rPr>
                        <a:t>‘/’</a:t>
                      </a:r>
                      <a:endParaRPr sz="1600">
                        <a:latin typeface="times new roman"/>
                        <a:cs typeface="times new roman"/>
                      </a:endParaRPr>
                    </a:p>
                  </a:txBody>
                  <a:tcPr/>
                </a:tc>
                <a:tc>
                  <a:txBody>
                    <a:bodyPr/>
                    <a:p>
                      <a:pPr>
                        <a:defRPr/>
                      </a:pPr>
                      <a:r>
                        <a:rPr lang="en-US" sz="1600" b="0" i="0" u="none" strike="noStrike" cap="none" spc="0">
                          <a:solidFill>
                            <a:schemeClr val="dk1"/>
                          </a:solidFill>
                          <a:latin typeface="times new roman"/>
                          <a:ea typeface="times new roman"/>
                          <a:cs typeface="times new roman"/>
                        </a:rPr>
                        <a:t>Get the list of all movies</a:t>
                      </a:r>
                      <a:endParaRPr sz="1600">
                        <a:latin typeface="times new roman"/>
                        <a:cs typeface="times new roman"/>
                      </a:endParaRPr>
                    </a:p>
                  </a:txBody>
                  <a:tcPr/>
                </a:tc>
              </a:tr>
              <a:tr h="365760">
                <a:tc>
                  <a:txBody>
                    <a:bodyPr/>
                    <a:p>
                      <a:pPr>
                        <a:defRPr/>
                      </a:pPr>
                      <a:r>
                        <a:rPr sz="1600">
                          <a:latin typeface="times new roman"/>
                          <a:ea typeface="times new roman"/>
                          <a:cs typeface="times new roman"/>
                        </a:rPr>
                        <a:t>Get </a:t>
                      </a:r>
                      <a:endParaRPr sz="1600">
                        <a:latin typeface="times new roman"/>
                        <a:cs typeface="times new roman"/>
                      </a:endParaRPr>
                    </a:p>
                  </a:txBody>
                  <a:tcPr/>
                </a:tc>
                <a:tc>
                  <a:txBody>
                    <a:bodyPr/>
                    <a:p>
                      <a:pPr>
                        <a:defRPr/>
                      </a:pPr>
                      <a:r>
                        <a:rPr sz="1600">
                          <a:latin typeface="times new roman"/>
                          <a:ea typeface="times new roman"/>
                          <a:cs typeface="times new roman"/>
                        </a:rPr>
                        <a:t>‘/;id’</a:t>
                      </a:r>
                      <a:endParaRPr sz="1600">
                        <a:latin typeface="times new roman"/>
                        <a:cs typeface="times new roman"/>
                      </a:endParaRPr>
                    </a:p>
                  </a:txBody>
                  <a:tcPr/>
                </a:tc>
                <a:tc>
                  <a:txBody>
                    <a:bodyPr/>
                    <a:p>
                      <a:pPr>
                        <a:defRPr/>
                      </a:pPr>
                      <a:r>
                        <a:rPr lang="en-US" sz="1600" b="0" i="0" u="none" strike="noStrike" cap="none" spc="0">
                          <a:solidFill>
                            <a:schemeClr val="dk1"/>
                          </a:solidFill>
                          <a:latin typeface="times new roman"/>
                          <a:ea typeface="times new roman"/>
                          <a:cs typeface="times new roman"/>
                        </a:rPr>
                        <a:t>Get a single movie by ID</a:t>
                      </a:r>
                      <a:endParaRPr sz="1600">
                        <a:latin typeface="times new roman"/>
                        <a:cs typeface="times new roman"/>
                      </a:endParaRPr>
                    </a:p>
                  </a:txBody>
                  <a:tcPr/>
                </a:tc>
              </a:tr>
              <a:tr h="365760">
                <a:tc>
                  <a:txBody>
                    <a:bodyPr/>
                    <a:p>
                      <a:pPr>
                        <a:defRPr/>
                      </a:pPr>
                      <a:r>
                        <a:rPr sz="1600">
                          <a:latin typeface="times new roman"/>
                          <a:ea typeface="times new roman"/>
                          <a:cs typeface="times new roman"/>
                        </a:rPr>
                        <a:t>Post </a:t>
                      </a:r>
                      <a:endParaRPr sz="1600">
                        <a:latin typeface="times new roman"/>
                        <a:cs typeface="times new roman"/>
                      </a:endParaRPr>
                    </a:p>
                  </a:txBody>
                  <a:tcPr/>
                </a:tc>
                <a:tc>
                  <a:txBody>
                    <a:bodyPr/>
                    <a:p>
                      <a:pPr>
                        <a:defRPr/>
                      </a:pPr>
                      <a:r>
                        <a:rPr sz="1600">
                          <a:latin typeface="times new roman"/>
                          <a:ea typeface="times new roman"/>
                          <a:cs typeface="times new roman"/>
                        </a:rPr>
                        <a:t>‘/’</a:t>
                      </a:r>
                      <a:endParaRPr sz="1600">
                        <a:latin typeface="times new roman"/>
                        <a:cs typeface="times new roman"/>
                      </a:endParaRPr>
                    </a:p>
                  </a:txBody>
                  <a:tcPr/>
                </a:tc>
                <a:tc>
                  <a:txBody>
                    <a:bodyPr/>
                    <a:p>
                      <a:pPr>
                        <a:defRPr/>
                      </a:pPr>
                      <a:r>
                        <a:rPr lang="en-US" sz="1600" b="0" i="0" u="none" strike="noStrike" cap="none" spc="0">
                          <a:solidFill>
                            <a:schemeClr val="dk1"/>
                          </a:solidFill>
                          <a:latin typeface="times new roman"/>
                          <a:ea typeface="times new roman"/>
                          <a:cs typeface="times new roman"/>
                        </a:rPr>
                        <a:t>Add a new movie </a:t>
                      </a:r>
                      <a:endParaRPr sz="1600">
                        <a:latin typeface="times new roman"/>
                        <a:cs typeface="times new roman"/>
                      </a:endParaRPr>
                    </a:p>
                  </a:txBody>
                  <a:tcPr/>
                </a:tc>
              </a:tr>
              <a:tr h="365760">
                <a:tc>
                  <a:txBody>
                    <a:bodyPr/>
                    <a:p>
                      <a:pPr>
                        <a:defRPr/>
                      </a:pPr>
                      <a:r>
                        <a:rPr sz="1600">
                          <a:latin typeface="times new roman"/>
                          <a:ea typeface="times new roman"/>
                          <a:cs typeface="times new roman"/>
                        </a:rPr>
                        <a:t>Patch </a:t>
                      </a:r>
                      <a:endParaRPr sz="1600">
                        <a:latin typeface="times new roman"/>
                        <a:cs typeface="times new roman"/>
                      </a:endParaRPr>
                    </a:p>
                  </a:txBody>
                  <a:tcPr/>
                </a:tc>
                <a:tc>
                  <a:txBody>
                    <a:bodyPr/>
                    <a:p>
                      <a:pPr>
                        <a:defRPr/>
                      </a:pPr>
                      <a:r>
                        <a:rPr sz="1600">
                          <a:latin typeface="times new roman"/>
                          <a:ea typeface="times new roman"/>
                          <a:cs typeface="times new roman"/>
                        </a:rPr>
                        <a:t>‘/:id’</a:t>
                      </a:r>
                      <a:endParaRPr sz="1600">
                        <a:latin typeface="times new roman"/>
                        <a:cs typeface="times new roman"/>
                      </a:endParaRPr>
                    </a:p>
                  </a:txBody>
                  <a:tcPr/>
                </a:tc>
                <a:tc>
                  <a:txBody>
                    <a:bodyPr/>
                    <a:p>
                      <a:pPr>
                        <a:defRPr/>
                      </a:pPr>
                      <a:r>
                        <a:rPr lang="en-US" sz="1600" b="0" i="0" u="none" strike="noStrike" cap="none" spc="0">
                          <a:solidFill>
                            <a:schemeClr val="dk1"/>
                          </a:solidFill>
                          <a:latin typeface="times new roman"/>
                          <a:ea typeface="times new roman"/>
                          <a:cs typeface="times new roman"/>
                        </a:rPr>
                        <a:t>Update an existing movie</a:t>
                      </a:r>
                      <a:endParaRPr sz="1600">
                        <a:latin typeface="times new roman"/>
                        <a:cs typeface="times new roman"/>
                      </a:endParaRPr>
                    </a:p>
                  </a:txBody>
                  <a:tcPr/>
                </a:tc>
              </a:tr>
              <a:tr h="365760">
                <a:tc>
                  <a:txBody>
                    <a:bodyPr/>
                    <a:p>
                      <a:pPr>
                        <a:defRPr/>
                      </a:pPr>
                      <a:r>
                        <a:rPr sz="1600">
                          <a:latin typeface="times new roman"/>
                          <a:ea typeface="times new roman"/>
                          <a:cs typeface="times new roman"/>
                        </a:rPr>
                        <a:t>Delete </a:t>
                      </a:r>
                      <a:endParaRPr sz="1600">
                        <a:latin typeface="times new roman"/>
                        <a:cs typeface="times new roman"/>
                      </a:endParaRPr>
                    </a:p>
                  </a:txBody>
                  <a:tcPr/>
                </a:tc>
                <a:tc>
                  <a:txBody>
                    <a:bodyPr/>
                    <a:p>
                      <a:pPr>
                        <a:defRPr/>
                      </a:pPr>
                      <a:r>
                        <a:rPr sz="1600">
                          <a:latin typeface="times new roman"/>
                          <a:ea typeface="times new roman"/>
                          <a:cs typeface="times new roman"/>
                        </a:rPr>
                        <a:t>‘/:id’</a:t>
                      </a:r>
                      <a:endParaRPr sz="1600">
                        <a:latin typeface="times new roman"/>
                        <a:cs typeface="times new roman"/>
                      </a:endParaRPr>
                    </a:p>
                  </a:txBody>
                  <a:tcPr/>
                </a:tc>
                <a:tc>
                  <a:txBody>
                    <a:bodyPr/>
                    <a:p>
                      <a:pPr>
                        <a:defRPr/>
                      </a:pPr>
                      <a:r>
                        <a:rPr lang="en-US" sz="1600" b="0" i="0" u="none" strike="noStrike" cap="none" spc="0">
                          <a:solidFill>
                            <a:schemeClr val="dk1"/>
                          </a:solidFill>
                          <a:latin typeface="times new roman"/>
                          <a:ea typeface="times new roman"/>
                          <a:cs typeface="times new roman"/>
                        </a:rPr>
                        <a:t>Replace an existing movie</a:t>
                      </a:r>
                      <a:endParaRPr sz="1600">
                        <a:latin typeface="times new roman"/>
                        <a:cs typeface="times new roman"/>
                      </a:endParaRPr>
                    </a:p>
                  </a:txBody>
                  <a:tcPr/>
                </a:tc>
              </a:tr>
              <a:tr h="365760">
                <a:tc>
                  <a:txBody>
                    <a:bodyPr/>
                    <a:p>
                      <a:pPr>
                        <a:defRPr/>
                      </a:pPr>
                      <a:r>
                        <a:rPr sz="1600">
                          <a:latin typeface="times new roman"/>
                          <a:ea typeface="times new roman"/>
                          <a:cs typeface="times new roman"/>
                        </a:rPr>
                        <a:t>Put </a:t>
                      </a:r>
                      <a:endParaRPr sz="1600">
                        <a:latin typeface="times new roman"/>
                        <a:cs typeface="times new roman"/>
                      </a:endParaRPr>
                    </a:p>
                  </a:txBody>
                  <a:tcPr/>
                </a:tc>
                <a:tc>
                  <a:txBody>
                    <a:bodyPr/>
                    <a:p>
                      <a:pPr>
                        <a:defRPr/>
                      </a:pPr>
                      <a:r>
                        <a:rPr sz="1600">
                          <a:latin typeface="times new roman"/>
                          <a:ea typeface="times new roman"/>
                          <a:cs typeface="times new roman"/>
                        </a:rPr>
                        <a:t>‘/:id’</a:t>
                      </a:r>
                      <a:endParaRPr sz="1600">
                        <a:latin typeface="times new roman"/>
                        <a:cs typeface="times new roman"/>
                      </a:endParaRPr>
                    </a:p>
                  </a:txBody>
                  <a:tcPr/>
                </a:tc>
                <a:tc>
                  <a:txBody>
                    <a:bodyPr/>
                    <a:p>
                      <a:pPr>
                        <a:defRPr/>
                      </a:pPr>
                      <a:r>
                        <a:rPr lang="en-US" sz="1600" b="0" i="0" u="none" strike="noStrike" cap="none" spc="0">
                          <a:solidFill>
                            <a:schemeClr val="dk1"/>
                          </a:solidFill>
                          <a:latin typeface="times new roman"/>
                          <a:ea typeface="times new roman"/>
                          <a:cs typeface="times new roman"/>
                        </a:rPr>
                        <a:t>Delete a movie by ID</a:t>
                      </a:r>
                      <a:endParaRPr sz="1600">
                        <a:latin typeface="times new roman"/>
                        <a:cs typeface="times new roman"/>
                      </a:endParaRPr>
                    </a:p>
                  </a:txBody>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486323351" name="Content Placeholder 2"/>
          <p:cNvSpPr>
            <a:spLocks noGrp="1"/>
          </p:cNvSpPr>
          <p:nvPr>
            <p:ph idx="1"/>
          </p:nvPr>
        </p:nvSpPr>
        <p:spPr bwMode="auto">
          <a:xfrm flipH="0" flipV="0">
            <a:off x="838199" y="444499"/>
            <a:ext cx="10515600" cy="5732462"/>
          </a:xfrm>
        </p:spPr>
        <p:txBody>
          <a:bodyPr/>
          <a:lstStyle/>
          <a:p>
            <a:pPr marL="0" indent="0">
              <a:buFont typeface="Arial"/>
              <a:buNone/>
              <a:defRPr/>
            </a:pPr>
            <a:r>
              <a:rPr/>
              <a:t>Postman screenshots</a:t>
            </a:r>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howMasterPhAnim="0" show="1">
  <p:cSld name="">
    <p:spTree>
      <p:nvGrpSpPr>
        <p:cNvPr id="1" name=""/>
        <p:cNvGrpSpPr/>
        <p:nvPr/>
      </p:nvGrpSpPr>
      <p:grpSpPr bwMode="auto">
        <a:xfrm>
          <a:off x="0" y="0"/>
          <a:ext cx="0" cy="0"/>
          <a:chOff x="0" y="0"/>
          <a:chExt cx="0" cy="0"/>
        </a:xfrm>
      </p:grpSpPr>
      <p:sp>
        <p:nvSpPr>
          <p:cNvPr id="1382041522" name="Content Placeholder 2"/>
          <p:cNvSpPr>
            <a:spLocks noGrp="1"/>
          </p:cNvSpPr>
          <p:nvPr>
            <p:ph idx="1"/>
          </p:nvPr>
        </p:nvSpPr>
        <p:spPr bwMode="auto">
          <a:xfrm flipH="0" flipV="0">
            <a:off x="838199" y="555624"/>
            <a:ext cx="10515600" cy="5621337"/>
          </a:xfrm>
        </p:spPr>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lnSpc>
                <a:spcPct val="114999"/>
              </a:lnSpc>
              <a:defRPr/>
            </a:pPr>
            <a:r>
              <a:rPr sz="2400" b="0" i="0" u="none">
                <a:solidFill>
                  <a:srgbClr val="000000"/>
                </a:solidFill>
                <a:latin typeface="times new roman"/>
                <a:ea typeface="times new roman"/>
                <a:cs typeface="times new roman"/>
              </a:rPr>
              <a:t>The use of github as a collaboration tool has a bit had for some members especially on the part of creating branches and pull requests for other members to review and merge.</a:t>
            </a:r>
            <a:endParaRPr sz="2400" b="0" i="0" u="none">
              <a:solidFill>
                <a:srgbClr val="000000"/>
              </a:solidFill>
              <a:latin typeface="times new roman"/>
              <a:cs typeface="times new roman"/>
            </a:endParaRPr>
          </a:p>
          <a:p>
            <a:pPr>
              <a:lnSpc>
                <a:spcPct val="114999"/>
              </a:lnSpc>
              <a:defRPr/>
            </a:pPr>
            <a:r>
              <a:rPr sz="2400" b="0" i="0" u="none">
                <a:solidFill>
                  <a:srgbClr val="000000"/>
                </a:solidFill>
                <a:latin typeface="times new roman"/>
                <a:ea typeface="times new roman"/>
                <a:cs typeface="times new roman"/>
              </a:rPr>
              <a:t>It was also difficult for some members to test the code even after cloning the github repository. In that way we came up with the solution of writing the README file that instructs each member on what to do in order to run the server locally.</a:t>
            </a:r>
            <a:endParaRPr sz="2400" b="0">
              <a:latin typeface="times new roman"/>
              <a:cs typeface="times new roman"/>
            </a:endParaRPr>
          </a:p>
          <a:p>
            <a:pPr>
              <a:lnSpc>
                <a:spcPct val="114999"/>
              </a:lnSpc>
              <a:defRPr/>
            </a:pPr>
            <a:r>
              <a:rPr sz="2400" b="0" i="0" u="none">
                <a:solidFill>
                  <a:srgbClr val="000000"/>
                </a:solidFill>
                <a:latin typeface="times new roman"/>
                <a:ea typeface="times new roman"/>
                <a:cs typeface="times new roman"/>
              </a:rPr>
              <a:t>Another issue was on finding and updating a movie that does not exist. Thus; using the </a:t>
            </a:r>
            <a:r>
              <a:rPr sz="2400" b="0" i="0" u="none">
                <a:solidFill>
                  <a:srgbClr val="000000"/>
                </a:solidFill>
                <a:latin typeface="times new roman"/>
                <a:ea typeface="times new roman"/>
                <a:cs typeface="times new roman"/>
              </a:rPr>
              <a:t>PUT method </a:t>
            </a:r>
            <a:r>
              <a:rPr sz="2400" b="0" i="0" u="none">
                <a:solidFill>
                  <a:srgbClr val="000000"/>
                </a:solidFill>
                <a:latin typeface="times new roman"/>
                <a:ea typeface="times new roman"/>
                <a:cs typeface="times new roman"/>
              </a:rPr>
              <a:t> on a non‑existent ID returned </a:t>
            </a:r>
            <a:r>
              <a:rPr sz="2400" b="0" i="0" u="none">
                <a:solidFill>
                  <a:srgbClr val="000000"/>
                </a:solidFill>
                <a:latin typeface="times new roman"/>
                <a:ea typeface="times new roman"/>
                <a:cs typeface="times new roman"/>
              </a:rPr>
              <a:t>200 OK</a:t>
            </a:r>
            <a:r>
              <a:rPr sz="2400" b="0" i="0" u="none">
                <a:solidFill>
                  <a:srgbClr val="000000"/>
                </a:solidFill>
                <a:latin typeface="times new roman"/>
                <a:ea typeface="times new roman"/>
                <a:cs typeface="times new roman"/>
              </a:rPr>
              <a:t> which was </a:t>
            </a:r>
            <a:r>
              <a:rPr sz="2400" b="0" i="0" u="none">
                <a:solidFill>
                  <a:srgbClr val="000000"/>
                </a:solidFill>
                <a:latin typeface="times new roman"/>
                <a:ea typeface="times new roman"/>
                <a:cs typeface="times new roman"/>
              </a:rPr>
              <a:t>misleading.</a:t>
            </a:r>
            <a:r>
              <a:rPr sz="2400" b="0">
                <a:latin typeface="times new roman"/>
                <a:ea typeface="times new roman"/>
                <a:cs typeface="times new roman"/>
              </a:rPr>
              <a:t> So we learned that we had to first </a:t>
            </a:r>
            <a:r>
              <a:rPr sz="2400" b="0" i="0" u="none">
                <a:solidFill>
                  <a:srgbClr val="000000"/>
                </a:solidFill>
                <a:latin typeface="times new roman"/>
                <a:ea typeface="times new roman"/>
                <a:cs typeface="times new roman"/>
              </a:rPr>
              <a:t> Check if </a:t>
            </a:r>
            <a:r>
              <a:rPr sz="2400" b="0" i="0" u="none">
                <a:solidFill>
                  <a:srgbClr val="000000"/>
                </a:solidFill>
                <a:latin typeface="times new roman"/>
                <a:ea typeface="times new roman"/>
                <a:cs typeface="times new roman"/>
              </a:rPr>
              <a:t>updatedMovie</a:t>
            </a:r>
            <a:r>
              <a:rPr sz="2400" b="0" i="0" u="none">
                <a:solidFill>
                  <a:srgbClr val="000000"/>
                </a:solidFill>
                <a:latin typeface="times new roman"/>
                <a:ea typeface="times new roman"/>
                <a:cs typeface="times new roman"/>
              </a:rPr>
              <a:t> is null and return </a:t>
            </a:r>
            <a:r>
              <a:rPr sz="2400" b="0" i="0" u="none">
                <a:solidFill>
                  <a:srgbClr val="000000"/>
                </a:solidFill>
                <a:latin typeface="times new roman"/>
                <a:ea typeface="times new roman"/>
                <a:cs typeface="times new roman"/>
              </a:rPr>
              <a:t>404 (Not Found error).</a:t>
            </a:r>
            <a:endParaRPr sz="1000" b="0" i="0" u="none">
              <a:solidFill>
                <a:srgbClr val="000000"/>
              </a:solidFill>
              <a:latin typeface="Courier New"/>
              <a:ea typeface="Courier New"/>
              <a:cs typeface="Courier New"/>
            </a:endParaRPr>
          </a:p>
          <a:p>
            <a:pPr marL="0" indent="0">
              <a:lnSpc>
                <a:spcPct val="150000"/>
              </a:lnSpc>
              <a:buFont typeface="Arial"/>
              <a:buNone/>
              <a:defRPr/>
            </a:pPr>
            <a:endParaRPr sz="1200" b="1" i="0" u="none">
              <a:solidFill>
                <a:srgbClr val="000000"/>
              </a:solidFill>
              <a:latin typeface="Times New Roman"/>
              <a:ea typeface="Times New Roman"/>
              <a:cs typeface="Times New Roman"/>
            </a:endParaRPr>
          </a:p>
          <a:p>
            <a:pPr marL="0" indent="0">
              <a:buFont typeface="Arial"/>
              <a:buNone/>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ONLYOFFICE/7.5.0.127</Application>
  <DocSecurity>0</DocSecurity>
  <PresentationFormat>Widescreen</PresentationFormat>
  <Paragraphs>0</Paragraphs>
  <Slides>5</Slides>
  <Notes>5</Notes>
  <HiddenSlides>0</HiddenSlides>
  <MMClips>2</MMClips>
  <ScaleCrop>0</ScaleCrop>
  <HeadingPairs>
    <vt:vector size="4" baseType="variant">
      <vt:variant>
        <vt:lpstr>Theme</vt:lpstr>
      </vt:variant>
      <vt:variant>
        <vt:i4>1</vt:i4>
      </vt:variant>
      <vt:variant>
        <vt:lpstr>Slide Titles</vt:lpstr>
      </vt:variant>
      <vt:variant>
        <vt:i4>5</vt:i4>
      </vt:variant>
    </vt:vector>
  </HeadingPairs>
  <TitlesOfParts>
    <vt:vector size="6" baseType="lpstr">
      <vt:lpstr>Theme 1</vt:lpstr>
      <vt:lpstr>Slide 1</vt:lpstr>
      <vt:lpstr>Slide 2</vt:lpstr>
      <vt:lpstr>Slide 3</vt:lpstr>
      <vt:lpstr>Slide 4</vt:lpstr>
      <vt:lpstr>Slide 5</vt:lpstr>
    </vt:vector>
  </TitlesOfParts>
  <Manager/>
  <Company/>
  <LinksUpToDate>0</LinksUpToDate>
  <SharedDoc>0</SharedDoc>
  <HyperlinkBase/>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identifier/>
  <dc:language/>
  <cp:lastModifiedBy/>
  <cp:revision>6</cp:revision>
  <dcterms:modified xsi:type="dcterms:W3CDTF">2026-06-04T15:35:39Z</dcterms:modified>
  <cp:category/>
  <cp:contentStatus/>
  <cp:version/>
</cp:coreProperties>
</file>